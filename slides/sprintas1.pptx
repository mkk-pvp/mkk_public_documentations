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256" r:id="rId2"/>
    <p:sldId id="291" r:id="rId3"/>
    <p:sldId id="292" r:id="rId4"/>
    <p:sldId id="275" r:id="rId5"/>
    <p:sldId id="281" r:id="rId6"/>
    <p:sldId id="295" r:id="rId7"/>
    <p:sldId id="296" r:id="rId8"/>
    <p:sldId id="297" r:id="rId9"/>
    <p:sldId id="298" r:id="rId10"/>
    <p:sldId id="301" r:id="rId11"/>
    <p:sldId id="289" r:id="rId12"/>
    <p:sldId id="293" r:id="rId13"/>
    <p:sldId id="294" r:id="rId14"/>
    <p:sldId id="268" r:id="rId15"/>
    <p:sldId id="30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7CB0327-3145-2BEE-EA6B-3AA71C71F7B7}" name="Vartotojas svečias" initials="Vs" userId="Vartotojas svečias" providerId="Windows Live"/>
  <p188:author id="{95582667-6102-27E7-ED8E-01A166EB4B6B}" name="Guest User" initials="GU" userId="Guest User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CC"/>
    <a:srgbClr val="DC3912"/>
    <a:srgbClr val="FFFFFF"/>
    <a:srgbClr val="E971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4DE9AD-B885-BBD1-CB6E-47133969121E}" v="9" dt="2026-02-26T17:46:56.372"/>
    <p1510:client id="{2D7557A6-9669-0D76-274B-D19003B7F924}" v="105" dt="2026-02-26T21:24:35.790"/>
    <p1510:client id="{31BEE00A-071D-90D7-A071-B41163E1FDA3}" v="6" dt="2026-02-27T07:06:41.159"/>
    <p1510:client id="{A66323C3-11DB-364C-9D4A-8708F95A10F0}" v="252" dt="2026-02-27T07:35:55.230"/>
    <p1510:client id="{EA519DB5-2AFF-A191-E403-AC77689853A8}" v="65" dt="2026-02-26T17:28:17.8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Vidutinis stilius 2 – paryškinima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 autoAdjust="0"/>
    <p:restoredTop sz="94915" autoAdjust="0"/>
  </p:normalViewPr>
  <p:slideViewPr>
    <p:cSldViewPr snapToGrid="0">
      <p:cViewPr varScale="1">
        <p:scale>
          <a:sx n="105" d="100"/>
          <a:sy n="105" d="100"/>
        </p:scale>
        <p:origin x="798" y="102"/>
      </p:cViewPr>
      <p:guideLst/>
    </p:cSldViewPr>
  </p:slideViewPr>
  <p:outlineViewPr>
    <p:cViewPr>
      <p:scale>
        <a:sx n="33" d="100"/>
        <a:sy n="33" d="100"/>
      </p:scale>
      <p:origin x="0" y="-417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13C01EA-97E2-892D-1CB3-A93A97D7989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FEDCFE-EBC5-36C6-337F-6A15DC9480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7D389-5D60-43A0-9F1F-7C2B39F1F837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D8F02C-4D24-1A80-644C-F4BD276265B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1978E-D7FB-F268-ECD7-9143E34AA7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91913-EB38-4217-A640-C4E90D7851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08508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9B41A0-D44D-4CA7-AA84-C889E7F6112E}" type="datetimeFigureOut">
              <a:rPr lang="en-US" smtClean="0"/>
              <a:t>3/12/2026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C7615E-30EA-4AA2-B699-AA68669B93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2202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669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117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93976-9318-6678-A2CF-7AEE4712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44BD42-7B80-3D9F-A0FF-344AFF5EF5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846E9B-1E85-3CB3-9AFF-77F297FFF9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3DF45-9861-A079-EC3F-E719914D56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3593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03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376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017E4A-8BB0-843F-134E-C16A4AB89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EB2FDC-A798-91AD-63FE-026C0D8740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F00F5D-9167-3FE6-4609-AD1BA131D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51595-C3FA-031F-F79B-3956E9BF2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692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0F8A3-99C6-00BA-10AA-FADE1D1B2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321FC-7C51-0E32-B789-FF60C0A7B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EF50DB-1DB1-CAB2-A05A-9E06FC9E78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1188B7-4E56-5A30-787D-F105ED22E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0827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2704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3476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D4710-73E2-CC12-D77A-2743F9A80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BA1E5E-EA69-2CF1-CD40-5E595BE90C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A0A8C9-2AE0-4328-59DD-DCB216CEC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880D1-E2EC-9011-9160-93C95B4659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08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169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70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4C7615E-30EA-4AA2-B699-AA68669B93A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2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E49CA-D741-4C1E-8E0E-ACEFDA90DF90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5408B-D730-46B3-9B97-5B6C4B98AAD2}" type="datetime1">
              <a:rPr lang="en-US" smtClean="0"/>
              <a:t>3/12/2026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723302" y="6389363"/>
            <a:ext cx="365185" cy="365125"/>
          </a:xfrm>
        </p:spPr>
        <p:txBody>
          <a:bodyPr/>
          <a:lstStyle>
            <a:lvl1pPr algn="r">
              <a:defRPr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1C16C-B4C5-4AC5-80C2-FA77EF78175A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52E1-AF28-4940-9A00-C5455951D0C3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115BE-E975-4CF0-B969-E151ACD9DD11}" type="datetime1">
              <a:rPr lang="en-US" smtClean="0"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8598A-0B0E-4FE5-B0A0-2E094B048420}" type="datetime1">
              <a:rPr lang="en-US" smtClean="0"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5D05A-BE46-491D-BACD-8B02BE60DDC5}" type="datetime1">
              <a:rPr lang="en-US" smtClean="0"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98A388-CDC0-44AD-9ECD-4F88BD0ED373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548B1C-C0EC-426C-A76A-A241F6A61F28}" type="datetime1">
              <a:rPr lang="en-US" smtClean="0"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29F78F-B47B-407F-866A-ED028F418E6F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0B10E1-521F-4D61-A215-40A8B6D6751D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FCA44-31A6-4B1F-9D61-BB5B020524D6}" type="datetime1">
              <a:rPr lang="en-US" smtClean="0"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10" Type="http://schemas.openxmlformats.org/officeDocument/2006/relationships/image" Target="../media/image2.png"/><Relationship Id="rId4" Type="http://schemas.openxmlformats.org/officeDocument/2006/relationships/image" Target="../media/image8.png"/><Relationship Id="rId9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6" name="Rectangle 235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35598" y="2389555"/>
            <a:ext cx="7795590" cy="2387600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US" dirty="0" err="1">
                <a:solidFill>
                  <a:schemeClr val="bg1"/>
                </a:solidFill>
              </a:rPr>
              <a:t>Sprintas</a:t>
            </a:r>
            <a:br>
              <a:rPr lang="en-US" dirty="0"/>
            </a:br>
            <a:r>
              <a:rPr lang="en-US" dirty="0" err="1">
                <a:solidFill>
                  <a:srgbClr val="FFFFFF"/>
                </a:solidFill>
              </a:rPr>
              <a:t>Moderni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klasės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kalba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45306" y="4913619"/>
            <a:ext cx="6589707" cy="13294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MKK komanda (K658)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3" name="Arc 242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366AD1-DB4A-85EC-81E0-79CF0634B1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9" name="Picture 2" descr="ktu logo – KTU Gimnazija">
            <a:extLst>
              <a:ext uri="{FF2B5EF4-FFF2-40B4-BE49-F238E27FC236}">
                <a16:creationId xmlns:a16="http://schemas.microsoft.com/office/drawing/2014/main" id="{B5BA42DD-C055-59F4-3F43-4D13B0DDCE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51CFF4-4AE0-9A2A-3B92-CE415DDED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BD3A13D-7271-D82D-A775-5128FB168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7CC8FAC-552C-0812-6A60-BD8E27516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9F1C7D-0A6C-A9CE-1FDA-97EF5B4BDE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90" y="1921956"/>
            <a:ext cx="4619937" cy="3005921"/>
          </a:xfrm>
        </p:spPr>
        <p:txBody>
          <a:bodyPr>
            <a:normAutofit/>
          </a:bodyPr>
          <a:lstStyle/>
          <a:p>
            <a:pPr algn="ctr"/>
            <a:r>
              <a:rPr lang="lt-LT" dirty="0">
                <a:solidFill>
                  <a:schemeClr val="bg1"/>
                </a:solidFill>
              </a:rPr>
              <a:t>Projekto p</a:t>
            </a:r>
            <a:r>
              <a:rPr lang="en-US" dirty="0" err="1">
                <a:solidFill>
                  <a:schemeClr val="bg1"/>
                </a:solidFill>
              </a:rPr>
              <a:t>roblema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tikslas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</a:t>
            </a:r>
            <a:r>
              <a:rPr lang="en-US" dirty="0">
                <a:solidFill>
                  <a:schemeClr val="bg1"/>
                </a:solidFill>
              </a:rPr>
              <a:t> u</a:t>
            </a:r>
            <a:r>
              <a:rPr lang="lt-LT" dirty="0" err="1">
                <a:solidFill>
                  <a:schemeClr val="bg1"/>
                </a:solidFill>
              </a:rPr>
              <a:t>ždaviniai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CA66A63E-812A-84F9-2EAB-BB7758E250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3122740-C6A9-7D24-E5A5-9F55FB3EA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9E676-31A6-49E5-A0F0-9F2BB90B3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244" y="1065874"/>
            <a:ext cx="6272476" cy="4833574"/>
          </a:xfr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lt-LT" sz="2000" b="1" dirty="0">
                <a:ea typeface="+mn-lt"/>
                <a:cs typeface="+mn-lt"/>
              </a:rPr>
              <a:t>Problema</a:t>
            </a:r>
          </a:p>
          <a:p>
            <a:pPr marL="0" indent="0">
              <a:buNone/>
            </a:pPr>
            <a:r>
              <a:rPr lang="lt-LT" sz="2000" dirty="0">
                <a:ea typeface="+mn-lt"/>
                <a:cs typeface="+mn-lt"/>
              </a:rPr>
              <a:t>Pamokose sudėtinga nuolat įtraukti visus mokinius į mokymosi procesą ir realiu laiku stebėti jų pažangą, o tai sunkina mokytojo darbą.</a:t>
            </a:r>
          </a:p>
          <a:p>
            <a:pPr marL="0" indent="0">
              <a:buNone/>
            </a:pPr>
            <a:endParaRPr lang="lt-LT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lt-LT" sz="2000" b="1" dirty="0">
                <a:ea typeface="+mn-lt"/>
                <a:cs typeface="+mn-lt"/>
              </a:rPr>
              <a:t>Tikslas</a:t>
            </a:r>
          </a:p>
          <a:p>
            <a:pPr marL="0" indent="0">
              <a:buNone/>
            </a:pPr>
            <a:r>
              <a:rPr lang="lt-LT" sz="2000" dirty="0">
                <a:ea typeface="+mn-lt"/>
                <a:cs typeface="+mn-lt"/>
              </a:rPr>
              <a:t>Sukurti interaktyvų sprendimą, kuris didintų mokinių įsitraukimą pamokų metu ir suteiktų mokytojams galimybę realiu laiku stebėti rezultatus.</a:t>
            </a:r>
          </a:p>
          <a:p>
            <a:pPr marL="0" indent="0">
              <a:buNone/>
            </a:pPr>
            <a:endParaRPr lang="lt-LT" sz="20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lt-LT" sz="2000" b="1" dirty="0">
                <a:ea typeface="+mn-lt"/>
                <a:cs typeface="+mn-lt"/>
              </a:rPr>
              <a:t>U</a:t>
            </a:r>
            <a:r>
              <a:rPr lang="en-US" sz="2000" b="1" dirty="0" err="1">
                <a:ea typeface="+mn-lt"/>
                <a:cs typeface="+mn-lt"/>
              </a:rPr>
              <a:t>ždaviniai</a:t>
            </a:r>
            <a:endParaRPr lang="en-US" sz="2000" b="1" dirty="0">
              <a:ea typeface="+mn-lt"/>
              <a:cs typeface="+mn-lt"/>
            </a:endParaRPr>
          </a:p>
          <a:p>
            <a:r>
              <a:rPr lang="lt-LT" sz="2000" dirty="0">
                <a:ea typeface="+mn-lt"/>
                <a:cs typeface="+mn-lt"/>
              </a:rPr>
              <a:t>Išanalizuoti rinką</a:t>
            </a:r>
          </a:p>
          <a:p>
            <a:r>
              <a:rPr lang="lt-LT" sz="2000" dirty="0">
                <a:ea typeface="+mn-lt"/>
                <a:cs typeface="+mn-lt"/>
              </a:rPr>
              <a:t>Suprojektuoti sistemos architektūrą</a:t>
            </a:r>
          </a:p>
          <a:p>
            <a:r>
              <a:rPr lang="lt-LT" sz="2000" dirty="0">
                <a:ea typeface="+mn-lt"/>
                <a:cs typeface="+mn-lt"/>
              </a:rPr>
              <a:t>Sukurti interaktyvų pultelį</a:t>
            </a:r>
          </a:p>
          <a:p>
            <a:r>
              <a:rPr lang="lt-LT" sz="2000" dirty="0">
                <a:ea typeface="+mn-lt"/>
                <a:cs typeface="+mn-lt"/>
              </a:rPr>
              <a:t>Sukurti internetinę platformą</a:t>
            </a:r>
          </a:p>
          <a:p>
            <a:r>
              <a:rPr lang="lt-LT" sz="2000" dirty="0">
                <a:ea typeface="+mn-lt"/>
                <a:cs typeface="+mn-lt"/>
              </a:rPr>
              <a:t>Išbandyti sukurtą sistemą su vartotojais</a:t>
            </a:r>
            <a:endParaRPr lang="en-US" sz="2400" dirty="0" err="1"/>
          </a:p>
        </p:txBody>
      </p:sp>
      <p:pic>
        <p:nvPicPr>
          <p:cNvPr id="4" name="Picture 3" descr="problem Icon - Free PNG &amp; SVG 2104842 - Noun Project">
            <a:extLst>
              <a:ext uri="{FF2B5EF4-FFF2-40B4-BE49-F238E27FC236}">
                <a16:creationId xmlns:a16="http://schemas.microsoft.com/office/drawing/2014/main" id="{EEFFF943-9324-B75D-E5DD-FBB15321D6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0025" y="4089928"/>
            <a:ext cx="1070814" cy="105458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2700547-1B8C-6429-2DEC-C40C3378CD3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15" name="Picture 2" descr="ktu logo – KTU Gimnazija">
            <a:extLst>
              <a:ext uri="{FF2B5EF4-FFF2-40B4-BE49-F238E27FC236}">
                <a16:creationId xmlns:a16="http://schemas.microsoft.com/office/drawing/2014/main" id="{EE940ED9-37E0-43D0-65F6-47B116C2C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E84EFD4-99A2-4F48-3E47-C4F07A21E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970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7CC8C7-999D-AF27-C31C-E04298F0C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6AAC95-5438-E2DD-AA7F-0CBFBD6C9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6384E41-D8E2-9671-D35E-2411CA7191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93DB0-DD25-28C3-B037-692416EDA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90" y="1921956"/>
            <a:ext cx="4619937" cy="3005921"/>
          </a:xfrm>
        </p:spPr>
        <p:txBody>
          <a:bodyPr>
            <a:normAutofit/>
          </a:bodyPr>
          <a:lstStyle/>
          <a:p>
            <a:pPr algn="ctr"/>
            <a:r>
              <a:rPr lang="lt-LT" dirty="0">
                <a:solidFill>
                  <a:schemeClr val="bg1"/>
                </a:solidFill>
              </a:rPr>
              <a:t>Sprinto </a:t>
            </a:r>
            <a:r>
              <a:rPr lang="en-US" dirty="0" err="1">
                <a:solidFill>
                  <a:schemeClr val="bg1"/>
                </a:solidFill>
              </a:rPr>
              <a:t>tikslas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ir</a:t>
            </a:r>
            <a:r>
              <a:rPr lang="en-US" dirty="0">
                <a:solidFill>
                  <a:schemeClr val="bg1"/>
                </a:solidFill>
              </a:rPr>
              <a:t> u</a:t>
            </a:r>
            <a:r>
              <a:rPr lang="lt-LT" dirty="0" err="1">
                <a:solidFill>
                  <a:schemeClr val="bg1"/>
                </a:solidFill>
              </a:rPr>
              <a:t>ždaviniai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23A7D405-C5F8-EB62-129D-129FD88FE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FED61B7-A213-35B8-72D8-8DDC3D8E0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5ADD75-9C7A-ADD7-E832-2303845C2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244" y="1065874"/>
            <a:ext cx="6272476" cy="4833574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lt-LT" sz="2600" b="1" dirty="0">
                <a:ea typeface="+mn-lt"/>
                <a:cs typeface="+mn-lt"/>
              </a:rPr>
              <a:t>Tikslas</a:t>
            </a:r>
          </a:p>
          <a:p>
            <a:pPr marL="0" indent="0">
              <a:buNone/>
            </a:pPr>
            <a:r>
              <a:rPr lang="lt-LT" sz="2600" dirty="0">
                <a:ea typeface="+mn-lt"/>
                <a:cs typeface="+mn-lt"/>
              </a:rPr>
              <a:t>Suprasti vartotojų poreikius ir rinką, padėti pamatus produkto kūrimui.</a:t>
            </a:r>
          </a:p>
          <a:p>
            <a:pPr marL="0" indent="0">
              <a:buNone/>
            </a:pPr>
            <a:endParaRPr lang="lt-LT" sz="26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lt-LT" sz="2600" b="1" dirty="0">
                <a:ea typeface="+mn-lt"/>
                <a:cs typeface="+mn-lt"/>
              </a:rPr>
              <a:t>U</a:t>
            </a:r>
            <a:r>
              <a:rPr lang="en-US" sz="2600" b="1" dirty="0" err="1">
                <a:ea typeface="+mn-lt"/>
                <a:cs typeface="+mn-lt"/>
              </a:rPr>
              <a:t>ždaviniai</a:t>
            </a:r>
            <a:endParaRPr lang="en-US" sz="2600" b="1" dirty="0">
              <a:ea typeface="+mn-lt"/>
              <a:cs typeface="+mn-lt"/>
            </a:endParaRPr>
          </a:p>
          <a:p>
            <a:r>
              <a:rPr lang="lt-LT" sz="2600" dirty="0">
                <a:ea typeface="+mn-lt"/>
                <a:cs typeface="+mn-lt"/>
              </a:rPr>
              <a:t>Išanalizuoti makroaplinką</a:t>
            </a:r>
          </a:p>
          <a:p>
            <a:r>
              <a:rPr lang="lt-LT" sz="2600" dirty="0">
                <a:ea typeface="+mn-lt"/>
                <a:cs typeface="+mn-lt"/>
              </a:rPr>
              <a:t>Išskirti segmentus ir parinkti tikslinį</a:t>
            </a:r>
          </a:p>
          <a:p>
            <a:r>
              <a:rPr lang="lt-LT" sz="2600" dirty="0">
                <a:ea typeface="+mn-lt"/>
                <a:cs typeface="+mn-lt"/>
              </a:rPr>
              <a:t>Atlikti vartotojų balso tyrimą</a:t>
            </a:r>
          </a:p>
          <a:p>
            <a:r>
              <a:rPr lang="lt-LT" sz="2600" dirty="0">
                <a:ea typeface="+mn-lt"/>
                <a:cs typeface="+mn-lt"/>
              </a:rPr>
              <a:t>Išanalizuoti konkurentus</a:t>
            </a:r>
          </a:p>
          <a:p>
            <a:r>
              <a:rPr lang="lt-LT" sz="2600" dirty="0">
                <a:ea typeface="+mn-lt"/>
                <a:cs typeface="+mn-lt"/>
              </a:rPr>
              <a:t>Sukurti produkto pradinį prototipą</a:t>
            </a:r>
            <a:endParaRPr lang="en-US" sz="2600" dirty="0">
              <a:ea typeface="+mn-lt"/>
              <a:cs typeface="+mn-lt"/>
            </a:endParaRPr>
          </a:p>
          <a:p>
            <a:r>
              <a:rPr lang="lt-LT" sz="2600" dirty="0" err="1">
                <a:ea typeface="+mn-lt"/>
                <a:cs typeface="+mn-lt"/>
              </a:rPr>
              <a:t>Iša</a:t>
            </a:r>
            <a:r>
              <a:rPr lang="en-US" sz="2600" dirty="0" err="1">
                <a:ea typeface="+mn-lt"/>
                <a:cs typeface="+mn-lt"/>
              </a:rPr>
              <a:t>nalizuoti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lt-LT" sz="2600" dirty="0">
                <a:ea typeface="+mn-lt"/>
                <a:cs typeface="+mn-lt"/>
              </a:rPr>
              <a:t>mokinių mokymosi planą</a:t>
            </a:r>
          </a:p>
        </p:txBody>
      </p:sp>
      <p:pic>
        <p:nvPicPr>
          <p:cNvPr id="5" name="Picture 4" descr="Free Target And Goal SVG, PNG Icon, Symbol. Download Image.">
            <a:extLst>
              <a:ext uri="{FF2B5EF4-FFF2-40B4-BE49-F238E27FC236}">
                <a16:creationId xmlns:a16="http://schemas.microsoft.com/office/drawing/2014/main" id="{305DCC44-8968-57F2-C8E1-2574EF9CD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7587" y="2226709"/>
            <a:ext cx="1143471" cy="11382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00C237-3D13-11A8-1167-1C26D258F3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13" name="Picture 2" descr="ktu logo – KTU Gimnazija">
            <a:extLst>
              <a:ext uri="{FF2B5EF4-FFF2-40B4-BE49-F238E27FC236}">
                <a16:creationId xmlns:a16="http://schemas.microsoft.com/office/drawing/2014/main" id="{AE18C900-AB0A-76ED-7484-F3598458DA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F186533A-95C8-9637-672F-D10CD54A6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13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081C03-297E-B16E-7D28-FC681927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57E36F3B-5EA3-4859-A8E1-7DB2CD0BF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E2635EE6-D269-46B5-8431-4D0F084D4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4"/>
            <a:ext cx="6252552" cy="6858003"/>
          </a:xfrm>
          <a:custGeom>
            <a:avLst/>
            <a:gdLst>
              <a:gd name="connsiteX0" fmla="*/ 2609706 w 6252552"/>
              <a:gd name="connsiteY0" fmla="*/ 0 h 6858003"/>
              <a:gd name="connsiteX1" fmla="*/ 6252552 w 6252552"/>
              <a:gd name="connsiteY1" fmla="*/ 0 h 6858003"/>
              <a:gd name="connsiteX2" fmla="*/ 6252552 w 6252552"/>
              <a:gd name="connsiteY2" fmla="*/ 6858002 h 6858003"/>
              <a:gd name="connsiteX3" fmla="*/ 6228060 w 6252552"/>
              <a:gd name="connsiteY3" fmla="*/ 6858002 h 6858003"/>
              <a:gd name="connsiteX4" fmla="*/ 6228060 w 6252552"/>
              <a:gd name="connsiteY4" fmla="*/ 6858003 h 6858003"/>
              <a:gd name="connsiteX5" fmla="*/ 0 w 6252552"/>
              <a:gd name="connsiteY5" fmla="*/ 6858003 h 6858003"/>
              <a:gd name="connsiteX6" fmla="*/ 0 w 6252552"/>
              <a:gd name="connsiteY6" fmla="*/ 1 h 6858003"/>
              <a:gd name="connsiteX7" fmla="*/ 2609701 w 6252552"/>
              <a:gd name="connsiteY7" fmla="*/ 1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552" h="6858003">
                <a:moveTo>
                  <a:pt x="2609706" y="0"/>
                </a:moveTo>
                <a:lnTo>
                  <a:pt x="6252552" y="0"/>
                </a:lnTo>
                <a:lnTo>
                  <a:pt x="6252552" y="6858002"/>
                </a:lnTo>
                <a:lnTo>
                  <a:pt x="6228060" y="6858002"/>
                </a:lnTo>
                <a:lnTo>
                  <a:pt x="6228060" y="6858003"/>
                </a:lnTo>
                <a:lnTo>
                  <a:pt x="0" y="6858003"/>
                </a:lnTo>
                <a:lnTo>
                  <a:pt x="0" y="1"/>
                </a:lnTo>
                <a:lnTo>
                  <a:pt x="260970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18E928D9-3091-4385-B979-265D55AD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2974408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62AA-BD90-6637-7DAC-6ABDCF95D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-4"/>
            <a:ext cx="6252552" cy="685800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lt-LT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Atnaujintas p</a:t>
            </a:r>
            <a:r>
              <a:rPr lang="en-US" sz="5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rodukto</a:t>
            </a: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pavadinimas</a:t>
            </a: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ir</a:t>
            </a: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logotipas</a:t>
            </a:r>
            <a:r>
              <a:rPr lang="en-US" sz="5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 </a:t>
            </a:r>
            <a:endParaRPr lang="en-US" sz="5400" kern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D602432-D774-4CF5-94E8-7D52D0105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5486807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CC671D-1877-61CF-D694-7DC99126F8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6396" y="12908"/>
            <a:ext cx="725772" cy="645131"/>
          </a:xfrm>
          <a:prstGeom prst="rect">
            <a:avLst/>
          </a:prstGeom>
        </p:spPr>
      </p:pic>
      <p:pic>
        <p:nvPicPr>
          <p:cNvPr id="8" name="Picture 2" descr="ktu logo – KTU Gimnazija">
            <a:extLst>
              <a:ext uri="{FF2B5EF4-FFF2-40B4-BE49-F238E27FC236}">
                <a16:creationId xmlns:a16="http://schemas.microsoft.com/office/drawing/2014/main" id="{1F163CC7-98AF-F7C8-F71C-984E098E54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4182" y="-2564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3DFF22A-3B8E-71BC-4A76-E58EC105D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DEBD1F-E3BA-AAAB-9DC6-8AB94FB9D45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163" y="1971321"/>
            <a:ext cx="3924224" cy="2639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35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25BEB8-CA35-2F05-D916-D6A42130F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E010A5-3299-F9F0-EF42-051140C4BA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E55ED66-C34E-2EDF-0A64-966EA4293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AFE194-428C-E4CD-72A9-81F45A750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1221"/>
            <a:ext cx="10515600" cy="1348065"/>
          </a:xfrm>
        </p:spPr>
        <p:txBody>
          <a:bodyPr>
            <a:normAutofit/>
          </a:bodyPr>
          <a:lstStyle/>
          <a:p>
            <a:r>
              <a:rPr lang="lt-LT" sz="5400" dirty="0">
                <a:solidFill>
                  <a:srgbClr val="FFFFFF"/>
                </a:solidFill>
              </a:rPr>
              <a:t>Pradinis prototipas</a:t>
            </a:r>
            <a:endParaRPr lang="en-US" sz="5400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6E8058-0605-85B5-D5D6-2D0948F64A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6" name="Picture 2" descr="ktu logo – KTU Gimnazija">
            <a:extLst>
              <a:ext uri="{FF2B5EF4-FFF2-40B4-BE49-F238E27FC236}">
                <a16:creationId xmlns:a16="http://schemas.microsoft.com/office/drawing/2014/main" id="{D48A6265-D45F-A213-BBB8-7E85A4899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21B3D6E-BF2F-A3BC-EC5D-2586575B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p:pic>
        <p:nvPicPr>
          <p:cNvPr id="3" name="prototype0">
            <a:hlinkClick r:id="" action="ppaction://media"/>
            <a:extLst>
              <a:ext uri="{FF2B5EF4-FFF2-40B4-BE49-F238E27FC236}">
                <a16:creationId xmlns:a16="http://schemas.microsoft.com/office/drawing/2014/main" id="{91AA5EDC-1ED8-BE83-85C9-7F1D160EA7E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-3048" y="0"/>
            <a:ext cx="122259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722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260525-CE59-F578-6D73-1FE91B3AD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09F563-B7B7-6183-FE56-864177DB2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F8FCFD3-3C48-2EF3-3912-6C95B5117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AE37F-C5DB-5EFF-57E8-C06AAA598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90" y="1921956"/>
            <a:ext cx="4619937" cy="3005921"/>
          </a:xfrm>
        </p:spPr>
        <p:txBody>
          <a:bodyPr>
            <a:normAutofit/>
          </a:bodyPr>
          <a:lstStyle/>
          <a:p>
            <a:pPr algn="ctr"/>
            <a:r>
              <a:rPr lang="lt-LT" dirty="0">
                <a:solidFill>
                  <a:schemeClr val="bg1"/>
                </a:solidFill>
              </a:rPr>
              <a:t>Makroaplinkos analizė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604E592-D94E-6BFC-9387-32595A896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AFF3372-3165-0928-0770-B2423A489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02681-CD53-1315-D4A4-96B9D9AC2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244" y="1065874"/>
            <a:ext cx="6272476" cy="48335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lt-LT" sz="2400" b="1" dirty="0">
                <a:ea typeface="+mn-lt"/>
                <a:cs typeface="+mn-lt"/>
              </a:rPr>
              <a:t>Ekonominė aplinka</a:t>
            </a:r>
            <a:r>
              <a:rPr lang="lt-LT" sz="2400" dirty="0">
                <a:ea typeface="+mn-lt"/>
                <a:cs typeface="+mn-lt"/>
              </a:rPr>
              <a:t>: BVP auga, todėl didėja lėšų edukacijai.</a:t>
            </a:r>
          </a:p>
          <a:p>
            <a:r>
              <a:rPr lang="lt-LT" sz="2400" b="1" dirty="0">
                <a:ea typeface="+mn-lt"/>
                <a:cs typeface="+mn-lt"/>
              </a:rPr>
              <a:t>Socialinė-kultūrinė aplinka</a:t>
            </a:r>
            <a:r>
              <a:rPr lang="lt-LT" sz="2400" dirty="0">
                <a:ea typeface="+mn-lt"/>
                <a:cs typeface="+mn-lt"/>
              </a:rPr>
              <a:t>: vartotojai ieško būdų supaprastinti gyvenimą.</a:t>
            </a:r>
          </a:p>
          <a:p>
            <a:r>
              <a:rPr lang="lt-LT" sz="2400" b="1" dirty="0">
                <a:ea typeface="+mn-lt"/>
                <a:cs typeface="+mn-lt"/>
              </a:rPr>
              <a:t>Politinė-teisinė aplinka</a:t>
            </a:r>
            <a:r>
              <a:rPr lang="lt-LT" sz="2400" dirty="0">
                <a:ea typeface="+mn-lt"/>
                <a:cs typeface="+mn-lt"/>
              </a:rPr>
              <a:t>: valstybės strategijos skatina </a:t>
            </a:r>
            <a:r>
              <a:rPr lang="lt-LT" sz="2400" dirty="0" err="1">
                <a:ea typeface="+mn-lt"/>
                <a:cs typeface="+mn-lt"/>
              </a:rPr>
              <a:t>skaitmenizaciją</a:t>
            </a:r>
            <a:r>
              <a:rPr lang="lt-LT" sz="2400" dirty="0">
                <a:ea typeface="+mn-lt"/>
                <a:cs typeface="+mn-lt"/>
              </a:rPr>
              <a:t> švietime.</a:t>
            </a:r>
          </a:p>
          <a:p>
            <a:r>
              <a:rPr lang="lt-LT" sz="2400" b="1" dirty="0">
                <a:ea typeface="+mn-lt"/>
                <a:cs typeface="+mn-lt"/>
              </a:rPr>
              <a:t>Mokslinė-technologinė aplinka</a:t>
            </a:r>
            <a:r>
              <a:rPr lang="lt-LT" sz="2400" dirty="0">
                <a:ea typeface="+mn-lt"/>
                <a:cs typeface="+mn-lt"/>
              </a:rPr>
              <a:t>: vykdomas plačiajuosčio ryšio vystymas, leidžiantis turėti geresnę prieigą prie interneto.</a:t>
            </a:r>
          </a:p>
          <a:p>
            <a:r>
              <a:rPr lang="lt-LT" sz="2400" b="1" dirty="0">
                <a:ea typeface="+mn-lt"/>
                <a:cs typeface="+mn-lt"/>
              </a:rPr>
              <a:t>Gamtos aplinka:</a:t>
            </a:r>
            <a:r>
              <a:rPr lang="lt-LT" sz="2400" dirty="0">
                <a:ea typeface="+mn-lt"/>
                <a:cs typeface="+mn-lt"/>
              </a:rPr>
              <a:t> rizika, kad pakils baterijų kaina.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E00C8D-3967-D338-DBE4-F513BAD7D4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9" name="Picture 2" descr="ktu logo – KTU Gimnazija">
            <a:extLst>
              <a:ext uri="{FF2B5EF4-FFF2-40B4-BE49-F238E27FC236}">
                <a16:creationId xmlns:a16="http://schemas.microsoft.com/office/drawing/2014/main" id="{354844E7-BC6C-92D1-BE40-ADBB8EE9C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EAE8399-8AA9-190B-BF44-807496338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411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1E40E7-E625-752F-7AA5-89B150FB9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FF580D2-2A08-246C-51FE-093363C601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9509811-FCB1-EE0D-2D16-A58A90876D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60B19D-63C9-AD3D-ED77-D3A52FCAB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9190" y="1921956"/>
            <a:ext cx="4619937" cy="3005921"/>
          </a:xfrm>
        </p:spPr>
        <p:txBody>
          <a:bodyPr>
            <a:normAutofit/>
          </a:bodyPr>
          <a:lstStyle/>
          <a:p>
            <a:pPr algn="ctr"/>
            <a:r>
              <a:rPr lang="lt-LT" dirty="0">
                <a:solidFill>
                  <a:schemeClr val="bg1"/>
                </a:solidFill>
              </a:rPr>
              <a:t>Rinkos segmentai ir tikslinis segmentas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F6B76693-623F-178E-3919-4F759B68F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64DFC5B-C876-AF3A-FE81-5D79B19D6F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5ED12-3C33-7D43-2DD7-20F21E71F0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3244" y="1065874"/>
            <a:ext cx="6272476" cy="48335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lt-LT" sz="2400" b="1" dirty="0">
                <a:ea typeface="+mn-lt"/>
                <a:cs typeface="+mn-lt"/>
              </a:rPr>
              <a:t>Rinkos segmentai</a:t>
            </a:r>
          </a:p>
          <a:p>
            <a:r>
              <a:rPr lang="lt-LT" sz="2400" dirty="0">
                <a:ea typeface="+mn-lt"/>
                <a:cs typeface="+mn-lt"/>
              </a:rPr>
              <a:t>Pradinių klasių mokiniai ir jų mokytojai</a:t>
            </a:r>
          </a:p>
          <a:p>
            <a:r>
              <a:rPr lang="lt-LT" sz="2400" dirty="0">
                <a:ea typeface="+mn-lt"/>
                <a:cs typeface="+mn-lt"/>
              </a:rPr>
              <a:t>Pagrindinių klasių mokiniai ir jų mokytojai</a:t>
            </a:r>
          </a:p>
          <a:p>
            <a:r>
              <a:rPr lang="lt-LT" sz="2400" dirty="0">
                <a:ea typeface="+mn-lt"/>
                <a:cs typeface="+mn-lt"/>
              </a:rPr>
              <a:t>Vidurinių klasių mokiniai ir jų mokytojai</a:t>
            </a:r>
          </a:p>
          <a:p>
            <a:endParaRPr lang="lt-LT" sz="2400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lt-LT" sz="2400" b="1" dirty="0">
                <a:ea typeface="+mn-lt"/>
                <a:cs typeface="+mn-lt"/>
              </a:rPr>
              <a:t>Tikslinis rinkos segmentas</a:t>
            </a:r>
          </a:p>
          <a:p>
            <a:pPr marL="0" indent="0">
              <a:buNone/>
            </a:pPr>
            <a:r>
              <a:rPr lang="lt-LT" sz="2400" dirty="0">
                <a:ea typeface="+mn-lt"/>
                <a:cs typeface="+mn-lt"/>
              </a:rPr>
              <a:t>Pradinių klasių mokiniai ir jų mokytojai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9D3CCA-B596-1665-693B-92C483D35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7" name="Picture 2" descr="ktu logo – KTU Gimnazija">
            <a:extLst>
              <a:ext uri="{FF2B5EF4-FFF2-40B4-BE49-F238E27FC236}">
                <a16:creationId xmlns:a16="http://schemas.microsoft.com/office/drawing/2014/main" id="{16ED4887-75E1-45BA-86D3-EB511801B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04AFA42-452D-AB8A-5FDB-E48A1F27A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992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F2B00D-DE08-9ADC-AD87-2A830700A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1D35B42-B2D2-48AB-5919-0297E852D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F9E0F6D-1F31-945E-F024-F79A388E8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A90D96-D3F9-1CEC-2733-07F8CB79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93" y="841376"/>
            <a:ext cx="4619938" cy="4619938"/>
          </a:xfrm>
        </p:spPr>
        <p:txBody>
          <a:bodyPr>
            <a:normAutofit/>
          </a:bodyPr>
          <a:lstStyle/>
          <a:p>
            <a:pPr algn="ctr"/>
            <a:r>
              <a:rPr lang="lt-LT" dirty="0">
                <a:solidFill>
                  <a:srgbClr val="FFFFFF"/>
                </a:solidFill>
              </a:rPr>
              <a:t>Konkurentai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8E5973A-4E09-1CC2-6716-2C8821E55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0C3024-7D0E-4C78-AA75-6CE17DD32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F73A7268-BDD9-FDC9-B8D8-91B159E02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ADFCC-2A8D-6710-021B-8D19438D4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540" y="1515618"/>
            <a:ext cx="6392846" cy="409406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lt-LT" sz="2400" b="1" dirty="0"/>
              <a:t>Pranašumai</a:t>
            </a:r>
          </a:p>
          <a:p>
            <a:r>
              <a:rPr lang="lt-LT" sz="2400" dirty="0"/>
              <a:t>Lengvas plečiamumas</a:t>
            </a:r>
          </a:p>
          <a:p>
            <a:r>
              <a:rPr lang="lt-LT" sz="2400" dirty="0"/>
              <a:t>Saugumas</a:t>
            </a:r>
          </a:p>
          <a:p>
            <a:r>
              <a:rPr lang="lt-LT" sz="2400" dirty="0"/>
              <a:t>Lankstumas tarp klasių</a:t>
            </a:r>
          </a:p>
          <a:p>
            <a:r>
              <a:rPr lang="lt-LT" sz="2400" dirty="0"/>
              <a:t>Įrenginys nepririštas prie vartotojo</a:t>
            </a:r>
          </a:p>
          <a:p>
            <a:r>
              <a:rPr lang="lt-LT" sz="2400" dirty="0"/>
              <a:t>Nuotolinis naudojimas</a:t>
            </a:r>
          </a:p>
          <a:p>
            <a:r>
              <a:rPr lang="lt-LT" sz="2400" dirty="0"/>
              <a:t>Pritaikytas turinys pradinukams</a:t>
            </a:r>
          </a:p>
          <a:p>
            <a:r>
              <a:rPr lang="lt-LT" sz="2400" dirty="0"/>
              <a:t>Mažesnis ekranų naudojimas</a:t>
            </a:r>
            <a:endParaRPr lang="en-US" sz="24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6F9F1B68-6CEE-F929-231D-5F2C446C2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65F5985E-C602-43DE-1594-B3DEAEB5F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C375200B-F798-69AA-92F5-204300929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B098EF1-A9D2-E932-D909-1E5AA633C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3013" y="1138143"/>
            <a:ext cx="1822109" cy="622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0AAF7CF-893F-EF66-F9D8-45295F4E6C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6582" y="2427323"/>
            <a:ext cx="2098025" cy="5734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Slido Pricing: Worth It Or Consider An Alternative? [June 2025]">
            <a:extLst>
              <a:ext uri="{FF2B5EF4-FFF2-40B4-BE49-F238E27FC236}">
                <a16:creationId xmlns:a16="http://schemas.microsoft.com/office/drawing/2014/main" id="{FDE4A2A7-9F05-1D1F-648D-BE16B414D7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9238" r="89954">
                        <a14:foregroundMark x1="40069" y1="46462" x2="36143" y2="47385"/>
                        <a14:foregroundMark x1="50577" y1="41692" x2="50577" y2="49231"/>
                        <a14:foregroundMark x1="56928" y1="49385" x2="56120" y2="57077"/>
                        <a14:foregroundMark x1="56120" y1="40615" x2="58083" y2="40154"/>
                        <a14:foregroundMark x1="61316" y1="52154" x2="63048" y2="53538"/>
                        <a14:foregroundMark x1="83372" y1="47077" x2="85566" y2="47846"/>
                        <a14:foregroundMark x1="9238" y1="53538" x2="11432" y2="538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0" t="30220" r="7088" b="25438"/>
          <a:stretch>
            <a:fillRect/>
          </a:stretch>
        </p:blipFill>
        <p:spPr bwMode="auto">
          <a:xfrm>
            <a:off x="9983197" y="4143947"/>
            <a:ext cx="2149424" cy="8249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Classwise - Lessons that make teaching more satisfying">
            <a:extLst>
              <a:ext uri="{FF2B5EF4-FFF2-40B4-BE49-F238E27FC236}">
                <a16:creationId xmlns:a16="http://schemas.microsoft.com/office/drawing/2014/main" id="{62D4FEB3-DF06-1E7C-34B8-7536624835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48055" y="5664036"/>
            <a:ext cx="2677054" cy="74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AB28872-2195-5197-0F4B-06AFEFB2ED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11" name="Picture 2" descr="ktu logo – KTU Gimnazija">
            <a:extLst>
              <a:ext uri="{FF2B5EF4-FFF2-40B4-BE49-F238E27FC236}">
                <a16:creationId xmlns:a16="http://schemas.microsoft.com/office/drawing/2014/main" id="{7C39FC45-2C4E-D76D-5189-0FA0889DE4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D0EE331-DEA5-E111-08C2-8879385D9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5776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82C1B9-F434-7F04-03EF-7CF2540DB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0F9B255-BC83-8D44-E49F-A396F1E291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DD140F8-7EDB-091C-0646-D8E258543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8C3048-6843-1555-AA83-1A3C678CF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93" y="841376"/>
            <a:ext cx="4619938" cy="4619938"/>
          </a:xfrm>
        </p:spPr>
        <p:txBody>
          <a:bodyPr>
            <a:normAutofit/>
          </a:bodyPr>
          <a:lstStyle/>
          <a:p>
            <a:pPr algn="ctr"/>
            <a:r>
              <a:rPr lang="lt-LT" dirty="0">
                <a:solidFill>
                  <a:srgbClr val="FFFFFF"/>
                </a:solidFill>
              </a:rPr>
              <a:t>Vartotojų balso tyrimas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0B69198-BF9B-188C-90C0-02FCB88635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3A12360-6680-0A02-108D-407DE21B55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70FC4E9-151D-6253-E86D-D7E4F6DFA0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8547E84-1B93-CAE8-A48C-836560109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EFDC284-7F05-FD44-BC73-FDB6ACBCBD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46691059-975F-18E8-9E68-E3819AA1F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B8CDEB9-62C2-07D9-903C-7C74699B0D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697" y="1322213"/>
            <a:ext cx="6357937" cy="219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94C43F-A40E-94D4-57D1-4AA282650412}"/>
              </a:ext>
            </a:extLst>
          </p:cNvPr>
          <p:cNvSpPr txBox="1"/>
          <p:nvPr/>
        </p:nvSpPr>
        <p:spPr>
          <a:xfrm>
            <a:off x="5698912" y="698179"/>
            <a:ext cx="62397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t-LT" sz="2200" b="1" dirty="0"/>
              <a:t>Klausimas mokiniams: </a:t>
            </a:r>
            <a:r>
              <a:rPr lang="lt-LT" sz="2200" dirty="0"/>
              <a:t>k</a:t>
            </a:r>
            <a:r>
              <a:rPr lang="fi-FI" sz="2200" dirty="0"/>
              <a:t>ada pamokoje tau būna įdomiausia?</a:t>
            </a:r>
            <a:endParaRPr lang="en-US" sz="22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A6A10A-064B-8279-EDCB-92136AE213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15" name="Picture 2" descr="ktu logo – KTU Gimnazija">
            <a:extLst>
              <a:ext uri="{FF2B5EF4-FFF2-40B4-BE49-F238E27FC236}">
                <a16:creationId xmlns:a16="http://schemas.microsoft.com/office/drawing/2014/main" id="{9008C437-3AF3-F064-60AB-AEE8EC6C78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60FDB99-C9D8-CCD1-0986-66CAB60A0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BFA4C-5B9C-F2D1-FD43-6B84EDF79204}"/>
              </a:ext>
            </a:extLst>
          </p:cNvPr>
          <p:cNvSpPr txBox="1"/>
          <p:nvPr/>
        </p:nvSpPr>
        <p:spPr>
          <a:xfrm>
            <a:off x="5698912" y="3498782"/>
            <a:ext cx="60243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lt-LT" sz="2200" b="1" dirty="0"/>
              <a:t>Klausimas mokytojams: </a:t>
            </a:r>
            <a:r>
              <a:rPr lang="lt-LT" sz="2200" dirty="0"/>
              <a:t>s</a:t>
            </a:r>
            <a:r>
              <a:rPr lang="fi-FI" sz="2200" dirty="0"/>
              <a:t>u kokiais sunkumais dažniausiai susiduriate pamokose?</a:t>
            </a:r>
            <a:endParaRPr lang="en-US" sz="2200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9FA5F1B-8E3E-1609-DC81-5DB54F9EE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6510" y="4257804"/>
            <a:ext cx="5682407" cy="2039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232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452472-5ABB-1B6B-9BFE-096356706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996ED458-4DFD-7E2C-B73C-9E4DF6718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8EC4E23-1F88-4227-A2F2-B4A6118A80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4"/>
            <a:ext cx="6252552" cy="6858003"/>
          </a:xfrm>
          <a:custGeom>
            <a:avLst/>
            <a:gdLst>
              <a:gd name="connsiteX0" fmla="*/ 2609706 w 6252552"/>
              <a:gd name="connsiteY0" fmla="*/ 0 h 6858003"/>
              <a:gd name="connsiteX1" fmla="*/ 6252552 w 6252552"/>
              <a:gd name="connsiteY1" fmla="*/ 0 h 6858003"/>
              <a:gd name="connsiteX2" fmla="*/ 6252552 w 6252552"/>
              <a:gd name="connsiteY2" fmla="*/ 6858002 h 6858003"/>
              <a:gd name="connsiteX3" fmla="*/ 6228060 w 6252552"/>
              <a:gd name="connsiteY3" fmla="*/ 6858002 h 6858003"/>
              <a:gd name="connsiteX4" fmla="*/ 6228060 w 6252552"/>
              <a:gd name="connsiteY4" fmla="*/ 6858003 h 6858003"/>
              <a:gd name="connsiteX5" fmla="*/ 0 w 6252552"/>
              <a:gd name="connsiteY5" fmla="*/ 6858003 h 6858003"/>
              <a:gd name="connsiteX6" fmla="*/ 0 w 6252552"/>
              <a:gd name="connsiteY6" fmla="*/ 1 h 6858003"/>
              <a:gd name="connsiteX7" fmla="*/ 2609701 w 6252552"/>
              <a:gd name="connsiteY7" fmla="*/ 1 h 68580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52552" h="6858003">
                <a:moveTo>
                  <a:pt x="2609706" y="0"/>
                </a:moveTo>
                <a:lnTo>
                  <a:pt x="6252552" y="0"/>
                </a:lnTo>
                <a:lnTo>
                  <a:pt x="6252552" y="6858002"/>
                </a:lnTo>
                <a:lnTo>
                  <a:pt x="6228060" y="6858002"/>
                </a:lnTo>
                <a:lnTo>
                  <a:pt x="6228060" y="6858003"/>
                </a:lnTo>
                <a:lnTo>
                  <a:pt x="0" y="6858003"/>
                </a:lnTo>
                <a:lnTo>
                  <a:pt x="0" y="1"/>
                </a:lnTo>
                <a:lnTo>
                  <a:pt x="2609701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277B6AC8-0E76-BB54-114B-FD5EAD7DF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03011">
            <a:off x="2974408" y="700861"/>
            <a:ext cx="2987899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7975A7-8FD7-5260-EDBF-52B74E12D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-4"/>
            <a:ext cx="6252552" cy="6858003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lt-LT" sz="5400" kern="1200">
                <a:solidFill>
                  <a:srgbClr val="FFFFFF"/>
                </a:solidFill>
                <a:latin typeface="+mj-lt"/>
              </a:rPr>
              <a:t>Užduočių rinkinio pavyzdys</a:t>
            </a:r>
            <a:endParaRPr lang="en-US" sz="5400" kern="1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FB4F757-BD19-FFBA-E431-A210D3300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1186" y="5486807"/>
            <a:ext cx="491961" cy="49196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A03DB5-12FD-9B4B-8CEC-8CBAF98B30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456396" y="12908"/>
            <a:ext cx="725772" cy="645131"/>
          </a:xfrm>
          <a:prstGeom prst="rect">
            <a:avLst/>
          </a:prstGeom>
        </p:spPr>
      </p:pic>
      <p:pic>
        <p:nvPicPr>
          <p:cNvPr id="8" name="Picture 2" descr="ktu logo – KTU Gimnazija">
            <a:extLst>
              <a:ext uri="{FF2B5EF4-FFF2-40B4-BE49-F238E27FC236}">
                <a16:creationId xmlns:a16="http://schemas.microsoft.com/office/drawing/2014/main" id="{FFD56259-AC38-8B14-E454-558556EF8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4182" y="-2564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B0524D-3B2B-EF31-E729-04B4A7F4E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 descr="Aprašo nėra.">
            <a:extLst>
              <a:ext uri="{FF2B5EF4-FFF2-40B4-BE49-F238E27FC236}">
                <a16:creationId xmlns:a16="http://schemas.microsoft.com/office/drawing/2014/main" id="{8E1A52FB-0E71-2AB9-510C-F3526631F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0945" y="180470"/>
            <a:ext cx="3413961" cy="6497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228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01DABC-4F49-DF7D-6A79-D2D6DB5E3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CEAAED-A487-21DE-BA4D-844CD859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BAD23D6-4032-F64B-B6A2-A669D92CD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05D94CBE-62D8-0CE0-2ADA-0AB43B42F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t-LT" sz="5400" dirty="0">
                <a:solidFill>
                  <a:schemeClr val="bg1"/>
                </a:solidFill>
              </a:rPr>
              <a:t>Sprinto statistika</a:t>
            </a:r>
            <a:endParaRPr lang="en-US" sz="54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9F52A32-27A2-AA17-BB77-88AA49174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18" name="Picture 2" descr="ktu logo – KTU Gimnazija">
            <a:extLst>
              <a:ext uri="{FF2B5EF4-FFF2-40B4-BE49-F238E27FC236}">
                <a16:creationId xmlns:a16="http://schemas.microsoft.com/office/drawing/2014/main" id="{E8380DCC-58A1-20A9-FB9B-F816FFC8D0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28551743-7EEA-8BD0-7673-938274600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B145A4-B31E-AE20-DC69-3C02A195F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1142" y="2550694"/>
            <a:ext cx="7909716" cy="406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645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5633E4-F5FC-4FAE-E685-6B853C320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149284-C444-0586-5BEF-F9D5FEBB81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0972AE7-78BD-D876-4EE5-BF8C8734B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1EB10AE-2432-EA2D-C70E-7D0A78CD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t-LT" sz="5400" dirty="0">
                <a:solidFill>
                  <a:schemeClr val="bg1"/>
                </a:solidFill>
              </a:rPr>
              <a:t>Sprintų palyginimas</a:t>
            </a:r>
            <a:endParaRPr lang="en-US" sz="540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701F888-C83C-9319-7511-A8B203CC45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14" name="Picture 2" descr="ktu logo – KTU Gimnazija">
            <a:extLst>
              <a:ext uri="{FF2B5EF4-FFF2-40B4-BE49-F238E27FC236}">
                <a16:creationId xmlns:a16="http://schemas.microsoft.com/office/drawing/2014/main" id="{CFD7B690-E0CE-F6ED-656E-5D40AE0AB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32A91EFE-2C07-50BC-46C4-64AAF3D4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FE7AEE-CC0F-7296-3D8D-FD80EC672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7238" y="2482172"/>
            <a:ext cx="6817524" cy="405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035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410E93-3826-98CE-63BF-54C1343B5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D67A251-BE38-C6E9-0D3C-6769A1F5E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9289C43-96AF-E4F0-B16E-458963EA25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47414"/>
          </a:xfrm>
          <a:custGeom>
            <a:avLst/>
            <a:gdLst>
              <a:gd name="connsiteX0" fmla="*/ 0 w 12192000"/>
              <a:gd name="connsiteY0" fmla="*/ 0 h 2347414"/>
              <a:gd name="connsiteX1" fmla="*/ 12192000 w 12192000"/>
              <a:gd name="connsiteY1" fmla="*/ 0 h 2347414"/>
              <a:gd name="connsiteX2" fmla="*/ 12192000 w 12192000"/>
              <a:gd name="connsiteY2" fmla="*/ 1736458 h 2347414"/>
              <a:gd name="connsiteX3" fmla="*/ 11967601 w 12192000"/>
              <a:gd name="connsiteY3" fmla="*/ 1784034 h 2347414"/>
              <a:gd name="connsiteX4" fmla="*/ 10829000 w 12192000"/>
              <a:gd name="connsiteY4" fmla="*/ 1983294 h 2347414"/>
              <a:gd name="connsiteX5" fmla="*/ 10743779 w 12192000"/>
              <a:gd name="connsiteY5" fmla="*/ 1996027 h 2347414"/>
              <a:gd name="connsiteX6" fmla="*/ 10829254 w 12192000"/>
              <a:gd name="connsiteY6" fmla="*/ 1987751 h 2347414"/>
              <a:gd name="connsiteX7" fmla="*/ 10847162 w 12192000"/>
              <a:gd name="connsiteY7" fmla="*/ 1988388 h 2347414"/>
              <a:gd name="connsiteX8" fmla="*/ 11575155 w 12192000"/>
              <a:gd name="connsiteY8" fmla="*/ 1921415 h 2347414"/>
              <a:gd name="connsiteX9" fmla="*/ 12192000 w 12192000"/>
              <a:gd name="connsiteY9" fmla="*/ 1851213 h 2347414"/>
              <a:gd name="connsiteX10" fmla="*/ 12192000 w 12192000"/>
              <a:gd name="connsiteY10" fmla="*/ 1907356 h 2347414"/>
              <a:gd name="connsiteX11" fmla="*/ 12035532 w 12192000"/>
              <a:gd name="connsiteY11" fmla="*/ 1927033 h 2347414"/>
              <a:gd name="connsiteX12" fmla="*/ 11576932 w 12192000"/>
              <a:gd name="connsiteY12" fmla="*/ 1976291 h 2347414"/>
              <a:gd name="connsiteX13" fmla="*/ 10627316 w 12192000"/>
              <a:gd name="connsiteY13" fmla="*/ 2061470 h 2347414"/>
              <a:gd name="connsiteX14" fmla="*/ 9804196 w 12192000"/>
              <a:gd name="connsiteY14" fmla="*/ 2123478 h 2347414"/>
              <a:gd name="connsiteX15" fmla="*/ 9243851 w 12192000"/>
              <a:gd name="connsiteY15" fmla="*/ 2180008 h 2347414"/>
              <a:gd name="connsiteX16" fmla="*/ 8731259 w 12192000"/>
              <a:gd name="connsiteY16" fmla="*/ 2225081 h 2347414"/>
              <a:gd name="connsiteX17" fmla="*/ 8065752 w 12192000"/>
              <a:gd name="connsiteY17" fmla="*/ 2271681 h 2347414"/>
              <a:gd name="connsiteX18" fmla="*/ 7658065 w 12192000"/>
              <a:gd name="connsiteY18" fmla="*/ 2292562 h 2347414"/>
              <a:gd name="connsiteX19" fmla="*/ 6531024 w 12192000"/>
              <a:gd name="connsiteY19" fmla="*/ 2324138 h 2347414"/>
              <a:gd name="connsiteX20" fmla="*/ 6178331 w 12192000"/>
              <a:gd name="connsiteY20" fmla="*/ 2345655 h 2347414"/>
              <a:gd name="connsiteX21" fmla="*/ 5977282 w 12192000"/>
              <a:gd name="connsiteY21" fmla="*/ 2344127 h 2347414"/>
              <a:gd name="connsiteX22" fmla="*/ 5367658 w 12192000"/>
              <a:gd name="connsiteY22" fmla="*/ 2329230 h 2347414"/>
              <a:gd name="connsiteX23" fmla="*/ 4387306 w 12192000"/>
              <a:gd name="connsiteY23" fmla="*/ 2288614 h 2347414"/>
              <a:gd name="connsiteX24" fmla="*/ 4180287 w 12192000"/>
              <a:gd name="connsiteY24" fmla="*/ 2280211 h 2347414"/>
              <a:gd name="connsiteX25" fmla="*/ 3842199 w 12192000"/>
              <a:gd name="connsiteY25" fmla="*/ 2257039 h 2347414"/>
              <a:gd name="connsiteX26" fmla="*/ 3730309 w 12192000"/>
              <a:gd name="connsiteY26" fmla="*/ 2251182 h 2347414"/>
              <a:gd name="connsiteX27" fmla="*/ 3425496 w 12192000"/>
              <a:gd name="connsiteY27" fmla="*/ 2231320 h 2347414"/>
              <a:gd name="connsiteX28" fmla="*/ 3076106 w 12192000"/>
              <a:gd name="connsiteY28" fmla="*/ 2201781 h 2347414"/>
              <a:gd name="connsiteX29" fmla="*/ 2819682 w 12192000"/>
              <a:gd name="connsiteY29" fmla="*/ 2182427 h 2347414"/>
              <a:gd name="connsiteX30" fmla="*/ 2525539 w 12192000"/>
              <a:gd name="connsiteY30" fmla="*/ 2152888 h 2347414"/>
              <a:gd name="connsiteX31" fmla="*/ 2311915 w 12192000"/>
              <a:gd name="connsiteY31" fmla="*/ 2133536 h 2347414"/>
              <a:gd name="connsiteX32" fmla="*/ 2054223 w 12192000"/>
              <a:gd name="connsiteY32" fmla="*/ 2104760 h 2347414"/>
              <a:gd name="connsiteX33" fmla="*/ 1865367 w 12192000"/>
              <a:gd name="connsiteY33" fmla="*/ 2084770 h 2347414"/>
              <a:gd name="connsiteX34" fmla="*/ 1629263 w 12192000"/>
              <a:gd name="connsiteY34" fmla="*/ 2055996 h 2347414"/>
              <a:gd name="connsiteX35" fmla="*/ 1458823 w 12192000"/>
              <a:gd name="connsiteY35" fmla="*/ 2035751 h 2347414"/>
              <a:gd name="connsiteX36" fmla="*/ 1241390 w 12192000"/>
              <a:gd name="connsiteY36" fmla="*/ 2007103 h 2347414"/>
              <a:gd name="connsiteX37" fmla="*/ 1047453 w 12192000"/>
              <a:gd name="connsiteY37" fmla="*/ 1980748 h 2347414"/>
              <a:gd name="connsiteX38" fmla="*/ 814907 w 12192000"/>
              <a:gd name="connsiteY38" fmla="*/ 1949045 h 2347414"/>
              <a:gd name="connsiteX39" fmla="*/ 592649 w 12192000"/>
              <a:gd name="connsiteY39" fmla="*/ 1913776 h 2347414"/>
              <a:gd name="connsiteX40" fmla="*/ 343591 w 12192000"/>
              <a:gd name="connsiteY40" fmla="*/ 1872650 h 2347414"/>
              <a:gd name="connsiteX41" fmla="*/ 35731 w 12192000"/>
              <a:gd name="connsiteY41" fmla="*/ 1821722 h 2347414"/>
              <a:gd name="connsiteX42" fmla="*/ 0 w 12192000"/>
              <a:gd name="connsiteY42" fmla="*/ 1814848 h 2347414"/>
              <a:gd name="connsiteX43" fmla="*/ 0 w 12192000"/>
              <a:gd name="connsiteY43" fmla="*/ 1758489 h 2347414"/>
              <a:gd name="connsiteX44" fmla="*/ 274248 w 12192000"/>
              <a:gd name="connsiteY44" fmla="*/ 1808735 h 2347414"/>
              <a:gd name="connsiteX45" fmla="*/ 498157 w 12192000"/>
              <a:gd name="connsiteY45" fmla="*/ 1846167 h 2347414"/>
              <a:gd name="connsiteX46" fmla="*/ 722828 w 12192000"/>
              <a:gd name="connsiteY46" fmla="*/ 1878635 h 2347414"/>
              <a:gd name="connsiteX47" fmla="*/ 949913 w 12192000"/>
              <a:gd name="connsiteY47" fmla="*/ 1912375 h 2347414"/>
              <a:gd name="connsiteX48" fmla="*/ 1195414 w 12192000"/>
              <a:gd name="connsiteY48" fmla="*/ 1947516 h 2347414"/>
              <a:gd name="connsiteX49" fmla="*/ 1342867 w 12192000"/>
              <a:gd name="connsiteY49" fmla="*/ 1968397 h 2347414"/>
              <a:gd name="connsiteX50" fmla="*/ 1518007 w 12192000"/>
              <a:gd name="connsiteY50" fmla="*/ 1988006 h 2347414"/>
              <a:gd name="connsiteX51" fmla="*/ 1701403 w 12192000"/>
              <a:gd name="connsiteY51" fmla="*/ 2010669 h 2347414"/>
              <a:gd name="connsiteX52" fmla="*/ 1879210 w 12192000"/>
              <a:gd name="connsiteY52" fmla="*/ 2031167 h 2347414"/>
              <a:gd name="connsiteX53" fmla="*/ 2068702 w 12192000"/>
              <a:gd name="connsiteY53" fmla="*/ 2052940 h 2347414"/>
              <a:gd name="connsiteX54" fmla="*/ 2212090 w 12192000"/>
              <a:gd name="connsiteY54" fmla="*/ 2067583 h 2347414"/>
              <a:gd name="connsiteX55" fmla="*/ 2416949 w 12192000"/>
              <a:gd name="connsiteY55" fmla="*/ 2089609 h 2347414"/>
              <a:gd name="connsiteX56" fmla="*/ 2582055 w 12192000"/>
              <a:gd name="connsiteY56" fmla="*/ 2105397 h 2347414"/>
              <a:gd name="connsiteX57" fmla="*/ 2802282 w 12192000"/>
              <a:gd name="connsiteY57" fmla="*/ 2126405 h 2347414"/>
              <a:gd name="connsiteX58" fmla="*/ 2984916 w 12192000"/>
              <a:gd name="connsiteY58" fmla="*/ 2141684 h 2347414"/>
              <a:gd name="connsiteX59" fmla="*/ 3241847 w 12192000"/>
              <a:gd name="connsiteY59" fmla="*/ 2164094 h 2347414"/>
              <a:gd name="connsiteX60" fmla="*/ 3439848 w 12192000"/>
              <a:gd name="connsiteY60" fmla="*/ 2176826 h 2347414"/>
              <a:gd name="connsiteX61" fmla="*/ 3658678 w 12192000"/>
              <a:gd name="connsiteY61" fmla="*/ 2194523 h 2347414"/>
              <a:gd name="connsiteX62" fmla="*/ 3881317 w 12192000"/>
              <a:gd name="connsiteY62" fmla="*/ 2206491 h 2347414"/>
              <a:gd name="connsiteX63" fmla="*/ 4148916 w 12192000"/>
              <a:gd name="connsiteY63" fmla="*/ 2225081 h 2347414"/>
              <a:gd name="connsiteX64" fmla="*/ 4468337 w 12192000"/>
              <a:gd name="connsiteY64" fmla="*/ 2237813 h 2347414"/>
              <a:gd name="connsiteX65" fmla="*/ 4605375 w 12192000"/>
              <a:gd name="connsiteY65" fmla="*/ 2240232 h 2347414"/>
              <a:gd name="connsiteX66" fmla="*/ 4527647 w 12192000"/>
              <a:gd name="connsiteY66" fmla="*/ 2236412 h 2347414"/>
              <a:gd name="connsiteX67" fmla="*/ 4175589 w 12192000"/>
              <a:gd name="connsiteY67" fmla="*/ 2212985 h 2347414"/>
              <a:gd name="connsiteX68" fmla="*/ 3988255 w 12192000"/>
              <a:gd name="connsiteY68" fmla="*/ 2200253 h 2347414"/>
              <a:gd name="connsiteX69" fmla="*/ 3686492 w 12192000"/>
              <a:gd name="connsiteY69" fmla="*/ 2176062 h 2347414"/>
              <a:gd name="connsiteX70" fmla="*/ 3517320 w 12192000"/>
              <a:gd name="connsiteY70" fmla="*/ 2163330 h 2347414"/>
              <a:gd name="connsiteX71" fmla="*/ 3258357 w 12192000"/>
              <a:gd name="connsiteY71" fmla="*/ 2139519 h 2347414"/>
              <a:gd name="connsiteX72" fmla="*/ 3101506 w 12192000"/>
              <a:gd name="connsiteY72" fmla="*/ 2126787 h 2347414"/>
              <a:gd name="connsiteX73" fmla="*/ 2809395 w 12192000"/>
              <a:gd name="connsiteY73" fmla="*/ 2097502 h 2347414"/>
              <a:gd name="connsiteX74" fmla="*/ 2598566 w 12192000"/>
              <a:gd name="connsiteY74" fmla="*/ 2078532 h 2347414"/>
              <a:gd name="connsiteX75" fmla="*/ 2337444 w 12192000"/>
              <a:gd name="connsiteY75" fmla="*/ 2048611 h 2347414"/>
              <a:gd name="connsiteX76" fmla="*/ 2091054 w 12192000"/>
              <a:gd name="connsiteY76" fmla="*/ 2023146 h 2347414"/>
              <a:gd name="connsiteX77" fmla="*/ 1755761 w 12192000"/>
              <a:gd name="connsiteY77" fmla="*/ 1981384 h 2347414"/>
              <a:gd name="connsiteX78" fmla="*/ 1441169 w 12192000"/>
              <a:gd name="connsiteY78" fmla="*/ 1943824 h 2347414"/>
              <a:gd name="connsiteX79" fmla="*/ 1017607 w 12192000"/>
              <a:gd name="connsiteY79" fmla="*/ 1883345 h 2347414"/>
              <a:gd name="connsiteX80" fmla="*/ 594427 w 12192000"/>
              <a:gd name="connsiteY80" fmla="*/ 1821849 h 2347414"/>
              <a:gd name="connsiteX81" fmla="*/ 200711 w 12192000"/>
              <a:gd name="connsiteY81" fmla="*/ 1755132 h 2347414"/>
              <a:gd name="connsiteX82" fmla="*/ 0 w 12192000"/>
              <a:gd name="connsiteY82" fmla="*/ 1718743 h 234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12192000" h="2347414">
                <a:moveTo>
                  <a:pt x="0" y="0"/>
                </a:moveTo>
                <a:lnTo>
                  <a:pt x="12192000" y="0"/>
                </a:lnTo>
                <a:lnTo>
                  <a:pt x="12192000" y="1736458"/>
                </a:lnTo>
                <a:lnTo>
                  <a:pt x="11967601" y="1784034"/>
                </a:lnTo>
                <a:cubicBezTo>
                  <a:pt x="11589888" y="1859409"/>
                  <a:pt x="11209762" y="1923961"/>
                  <a:pt x="10829000" y="1983294"/>
                </a:cubicBezTo>
                <a:lnTo>
                  <a:pt x="10743779" y="1996027"/>
                </a:lnTo>
                <a:cubicBezTo>
                  <a:pt x="10772495" y="1996778"/>
                  <a:pt x="10801211" y="1993989"/>
                  <a:pt x="10829254" y="1987751"/>
                </a:cubicBezTo>
                <a:cubicBezTo>
                  <a:pt x="10835198" y="1988337"/>
                  <a:pt x="10841180" y="1988553"/>
                  <a:pt x="10847162" y="1988388"/>
                </a:cubicBezTo>
                <a:cubicBezTo>
                  <a:pt x="11090123" y="1968907"/>
                  <a:pt x="11332703" y="1945734"/>
                  <a:pt x="11575155" y="1921415"/>
                </a:cubicBezTo>
                <a:lnTo>
                  <a:pt x="12192000" y="1851213"/>
                </a:lnTo>
                <a:lnTo>
                  <a:pt x="12192000" y="1907356"/>
                </a:lnTo>
                <a:lnTo>
                  <a:pt x="12035532" y="1927033"/>
                </a:lnTo>
                <a:cubicBezTo>
                  <a:pt x="11882793" y="1944747"/>
                  <a:pt x="11729910" y="1961077"/>
                  <a:pt x="11576932" y="1976291"/>
                </a:cubicBezTo>
                <a:cubicBezTo>
                  <a:pt x="11260690" y="2008122"/>
                  <a:pt x="10944193" y="2037279"/>
                  <a:pt x="10627316" y="2061470"/>
                </a:cubicBezTo>
                <a:cubicBezTo>
                  <a:pt x="10352985" y="2082351"/>
                  <a:pt x="10078401" y="2100431"/>
                  <a:pt x="9804196" y="2123478"/>
                </a:cubicBezTo>
                <a:cubicBezTo>
                  <a:pt x="9617118" y="2139137"/>
                  <a:pt x="9430675" y="2161674"/>
                  <a:pt x="9243851" y="2180008"/>
                </a:cubicBezTo>
                <a:cubicBezTo>
                  <a:pt x="9073157" y="2196433"/>
                  <a:pt x="8902207" y="2211966"/>
                  <a:pt x="8731259" y="2225081"/>
                </a:cubicBezTo>
                <a:cubicBezTo>
                  <a:pt x="8509507" y="2242054"/>
                  <a:pt x="8287667" y="2257586"/>
                  <a:pt x="8065752" y="2271681"/>
                </a:cubicBezTo>
                <a:cubicBezTo>
                  <a:pt x="7929984" y="2280466"/>
                  <a:pt x="7793961" y="2285814"/>
                  <a:pt x="7658065" y="2292562"/>
                </a:cubicBezTo>
                <a:cubicBezTo>
                  <a:pt x="7282640" y="2311661"/>
                  <a:pt x="6906704" y="2314208"/>
                  <a:pt x="6531024" y="2324138"/>
                </a:cubicBezTo>
                <a:cubicBezTo>
                  <a:pt x="6413417" y="2327322"/>
                  <a:pt x="6295937" y="2338399"/>
                  <a:pt x="6178331" y="2345655"/>
                </a:cubicBezTo>
                <a:cubicBezTo>
                  <a:pt x="6111271" y="2349730"/>
                  <a:pt x="6044342" y="2345655"/>
                  <a:pt x="5977282" y="2344127"/>
                </a:cubicBezTo>
                <a:cubicBezTo>
                  <a:pt x="5774073" y="2338908"/>
                  <a:pt x="5570866" y="2334960"/>
                  <a:pt x="5367658" y="2329230"/>
                </a:cubicBezTo>
                <a:cubicBezTo>
                  <a:pt x="5040746" y="2319809"/>
                  <a:pt x="4713963" y="2306274"/>
                  <a:pt x="4387306" y="2288614"/>
                </a:cubicBezTo>
                <a:cubicBezTo>
                  <a:pt x="4318342" y="2284796"/>
                  <a:pt x="4249253" y="2284286"/>
                  <a:pt x="4180287" y="2280211"/>
                </a:cubicBezTo>
                <a:cubicBezTo>
                  <a:pt x="4067634" y="2273463"/>
                  <a:pt x="3954980" y="2265060"/>
                  <a:pt x="3842199" y="2257039"/>
                </a:cubicBezTo>
                <a:cubicBezTo>
                  <a:pt x="3804988" y="2254492"/>
                  <a:pt x="3767648" y="2254620"/>
                  <a:pt x="3730309" y="2251182"/>
                </a:cubicBezTo>
                <a:cubicBezTo>
                  <a:pt x="3628704" y="2242142"/>
                  <a:pt x="3527101" y="2238449"/>
                  <a:pt x="3425496" y="2231320"/>
                </a:cubicBezTo>
                <a:cubicBezTo>
                  <a:pt x="3308906" y="2222534"/>
                  <a:pt x="3192569" y="2211330"/>
                  <a:pt x="3076106" y="2201781"/>
                </a:cubicBezTo>
                <a:cubicBezTo>
                  <a:pt x="2990757" y="2194905"/>
                  <a:pt x="2905157" y="2190067"/>
                  <a:pt x="2819682" y="2182427"/>
                </a:cubicBezTo>
                <a:cubicBezTo>
                  <a:pt x="2721507" y="2173515"/>
                  <a:pt x="2623586" y="2162311"/>
                  <a:pt x="2525539" y="2152888"/>
                </a:cubicBezTo>
                <a:cubicBezTo>
                  <a:pt x="2454289" y="2145886"/>
                  <a:pt x="2383038" y="2140920"/>
                  <a:pt x="2311915" y="2133536"/>
                </a:cubicBezTo>
                <a:cubicBezTo>
                  <a:pt x="2225933" y="2124749"/>
                  <a:pt x="2140204" y="2114182"/>
                  <a:pt x="2054223" y="2104760"/>
                </a:cubicBezTo>
                <a:cubicBezTo>
                  <a:pt x="1990719" y="2097758"/>
                  <a:pt x="1928233" y="2092028"/>
                  <a:pt x="1865367" y="2084770"/>
                </a:cubicBezTo>
                <a:cubicBezTo>
                  <a:pt x="1786622" y="2075603"/>
                  <a:pt x="1708006" y="2065545"/>
                  <a:pt x="1629263" y="2055996"/>
                </a:cubicBezTo>
                <a:cubicBezTo>
                  <a:pt x="1572492" y="2049120"/>
                  <a:pt x="1515595" y="2043264"/>
                  <a:pt x="1458823" y="2035751"/>
                </a:cubicBezTo>
                <a:cubicBezTo>
                  <a:pt x="1386303" y="2026585"/>
                  <a:pt x="1313784" y="2016780"/>
                  <a:pt x="1241390" y="2007103"/>
                </a:cubicBezTo>
                <a:lnTo>
                  <a:pt x="1047453" y="1980748"/>
                </a:lnTo>
                <a:cubicBezTo>
                  <a:pt x="969980" y="1970180"/>
                  <a:pt x="892254" y="1960377"/>
                  <a:pt x="814907" y="1949045"/>
                </a:cubicBezTo>
                <a:cubicBezTo>
                  <a:pt x="740609" y="1938094"/>
                  <a:pt x="666692" y="1925744"/>
                  <a:pt x="592649" y="1913776"/>
                </a:cubicBezTo>
                <a:cubicBezTo>
                  <a:pt x="509587" y="1900280"/>
                  <a:pt x="426653" y="1886274"/>
                  <a:pt x="343591" y="1872650"/>
                </a:cubicBezTo>
                <a:cubicBezTo>
                  <a:pt x="240972" y="1855716"/>
                  <a:pt x="138225" y="1839673"/>
                  <a:pt x="35731" y="1821722"/>
                </a:cubicBezTo>
                <a:lnTo>
                  <a:pt x="0" y="1814848"/>
                </a:lnTo>
                <a:lnTo>
                  <a:pt x="0" y="1758489"/>
                </a:lnTo>
                <a:lnTo>
                  <a:pt x="274248" y="1808735"/>
                </a:lnTo>
                <a:cubicBezTo>
                  <a:pt x="348926" y="1821467"/>
                  <a:pt x="423604" y="1832798"/>
                  <a:pt x="498157" y="1846167"/>
                </a:cubicBezTo>
                <a:cubicBezTo>
                  <a:pt x="572708" y="1859536"/>
                  <a:pt x="647896" y="1867813"/>
                  <a:pt x="722828" y="1878635"/>
                </a:cubicBezTo>
                <a:cubicBezTo>
                  <a:pt x="797762" y="1889457"/>
                  <a:pt x="874219" y="1901426"/>
                  <a:pt x="949913" y="1912375"/>
                </a:cubicBezTo>
                <a:cubicBezTo>
                  <a:pt x="1031704" y="1924343"/>
                  <a:pt x="1113496" y="1935802"/>
                  <a:pt x="1195414" y="1947516"/>
                </a:cubicBezTo>
                <a:cubicBezTo>
                  <a:pt x="1244566" y="1954519"/>
                  <a:pt x="1293589" y="1962285"/>
                  <a:pt x="1342867" y="1968397"/>
                </a:cubicBezTo>
                <a:cubicBezTo>
                  <a:pt x="1401162" y="1975656"/>
                  <a:pt x="1459712" y="1981130"/>
                  <a:pt x="1518007" y="1988006"/>
                </a:cubicBezTo>
                <a:cubicBezTo>
                  <a:pt x="1579224" y="1995263"/>
                  <a:pt x="1640186" y="2003411"/>
                  <a:pt x="1701403" y="2010669"/>
                </a:cubicBezTo>
                <a:cubicBezTo>
                  <a:pt x="1762618" y="2017926"/>
                  <a:pt x="1820279" y="2024292"/>
                  <a:pt x="1879210" y="2031167"/>
                </a:cubicBezTo>
                <a:cubicBezTo>
                  <a:pt x="1942712" y="2038425"/>
                  <a:pt x="2006214" y="2046064"/>
                  <a:pt x="2068702" y="2052940"/>
                </a:cubicBezTo>
                <a:cubicBezTo>
                  <a:pt x="2116455" y="2058160"/>
                  <a:pt x="2164335" y="2062362"/>
                  <a:pt x="2212090" y="2067583"/>
                </a:cubicBezTo>
                <a:cubicBezTo>
                  <a:pt x="2280419" y="2074967"/>
                  <a:pt x="2348493" y="2085152"/>
                  <a:pt x="2416949" y="2089609"/>
                </a:cubicBezTo>
                <a:cubicBezTo>
                  <a:pt x="2472070" y="2093302"/>
                  <a:pt x="2526936" y="2099540"/>
                  <a:pt x="2582055" y="2105397"/>
                </a:cubicBezTo>
                <a:cubicBezTo>
                  <a:pt x="2655337" y="2113291"/>
                  <a:pt x="2729001" y="2119785"/>
                  <a:pt x="2802282" y="2126405"/>
                </a:cubicBezTo>
                <a:cubicBezTo>
                  <a:pt x="2862991" y="2131753"/>
                  <a:pt x="2924207" y="2136337"/>
                  <a:pt x="2984916" y="2141684"/>
                </a:cubicBezTo>
                <a:cubicBezTo>
                  <a:pt x="3070516" y="2149324"/>
                  <a:pt x="3156373" y="2152888"/>
                  <a:pt x="3241847" y="2164094"/>
                </a:cubicBezTo>
                <a:cubicBezTo>
                  <a:pt x="3307255" y="2172624"/>
                  <a:pt x="3374060" y="2169822"/>
                  <a:pt x="3439848" y="2176826"/>
                </a:cubicBezTo>
                <a:cubicBezTo>
                  <a:pt x="3512622" y="2184592"/>
                  <a:pt x="3585777" y="2186247"/>
                  <a:pt x="3658678" y="2194523"/>
                </a:cubicBezTo>
                <a:cubicBezTo>
                  <a:pt x="3731578" y="2202800"/>
                  <a:pt x="3807019" y="2201781"/>
                  <a:pt x="3881317" y="2206491"/>
                </a:cubicBezTo>
                <a:cubicBezTo>
                  <a:pt x="3970222" y="2212094"/>
                  <a:pt x="4059124" y="2223552"/>
                  <a:pt x="4148916" y="2225081"/>
                </a:cubicBezTo>
                <a:cubicBezTo>
                  <a:pt x="4255600" y="2226736"/>
                  <a:pt x="4361779" y="2236539"/>
                  <a:pt x="4468337" y="2237813"/>
                </a:cubicBezTo>
                <a:cubicBezTo>
                  <a:pt x="4511390" y="2238577"/>
                  <a:pt x="4554190" y="2246852"/>
                  <a:pt x="4605375" y="2240232"/>
                </a:cubicBezTo>
                <a:cubicBezTo>
                  <a:pt x="4574131" y="2238704"/>
                  <a:pt x="4550762" y="2237940"/>
                  <a:pt x="4527647" y="2236412"/>
                </a:cubicBezTo>
                <a:cubicBezTo>
                  <a:pt x="4410293" y="2228773"/>
                  <a:pt x="4292942" y="2220751"/>
                  <a:pt x="4175589" y="2212985"/>
                </a:cubicBezTo>
                <a:cubicBezTo>
                  <a:pt x="4113101" y="2208783"/>
                  <a:pt x="4050615" y="2205219"/>
                  <a:pt x="3988255" y="2200253"/>
                </a:cubicBezTo>
                <a:cubicBezTo>
                  <a:pt x="3887668" y="2192487"/>
                  <a:pt x="3787079" y="2184082"/>
                  <a:pt x="3686492" y="2176062"/>
                </a:cubicBezTo>
                <a:cubicBezTo>
                  <a:pt x="3630102" y="2171605"/>
                  <a:pt x="3573711" y="2168040"/>
                  <a:pt x="3517320" y="2163330"/>
                </a:cubicBezTo>
                <a:cubicBezTo>
                  <a:pt x="3430958" y="2155689"/>
                  <a:pt x="3344721" y="2147159"/>
                  <a:pt x="3258357" y="2139519"/>
                </a:cubicBezTo>
                <a:cubicBezTo>
                  <a:pt x="3206031" y="2134809"/>
                  <a:pt x="3153705" y="2131371"/>
                  <a:pt x="3101506" y="2126787"/>
                </a:cubicBezTo>
                <a:cubicBezTo>
                  <a:pt x="3004220" y="2117365"/>
                  <a:pt x="2907061" y="2106798"/>
                  <a:pt x="2809395" y="2097502"/>
                </a:cubicBezTo>
                <a:cubicBezTo>
                  <a:pt x="2739161" y="2090628"/>
                  <a:pt x="2668673" y="2085916"/>
                  <a:pt x="2598566" y="2078532"/>
                </a:cubicBezTo>
                <a:cubicBezTo>
                  <a:pt x="2511441" y="2069365"/>
                  <a:pt x="2424569" y="2058160"/>
                  <a:pt x="2337444" y="2048611"/>
                </a:cubicBezTo>
                <a:cubicBezTo>
                  <a:pt x="2255399" y="2039699"/>
                  <a:pt x="2173099" y="2032950"/>
                  <a:pt x="2091054" y="2023146"/>
                </a:cubicBezTo>
                <a:cubicBezTo>
                  <a:pt x="1979162" y="2010414"/>
                  <a:pt x="1867524" y="1995008"/>
                  <a:pt x="1755761" y="1981384"/>
                </a:cubicBezTo>
                <a:cubicBezTo>
                  <a:pt x="1650982" y="1968652"/>
                  <a:pt x="1545821" y="1957830"/>
                  <a:pt x="1441169" y="1943824"/>
                </a:cubicBezTo>
                <a:cubicBezTo>
                  <a:pt x="1299813" y="1924980"/>
                  <a:pt x="1158837" y="1903718"/>
                  <a:pt x="1017607" y="1883345"/>
                </a:cubicBezTo>
                <a:cubicBezTo>
                  <a:pt x="876378" y="1862974"/>
                  <a:pt x="735402" y="1844003"/>
                  <a:pt x="594427" y="1821849"/>
                </a:cubicBezTo>
                <a:cubicBezTo>
                  <a:pt x="462850" y="1801222"/>
                  <a:pt x="331526" y="1778304"/>
                  <a:pt x="200711" y="1755132"/>
                </a:cubicBezTo>
                <a:lnTo>
                  <a:pt x="0" y="1718743"/>
                </a:lnTo>
                <a:close/>
              </a:path>
            </a:pathLst>
          </a:custGeom>
          <a:solidFill>
            <a:schemeClr val="accent2"/>
          </a:solidFill>
          <a:ln w="819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4EAF34-0CE7-DF25-6A94-A734D37F7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lt-LT" sz="5400" dirty="0" err="1">
                <a:solidFill>
                  <a:schemeClr val="bg1"/>
                </a:solidFill>
              </a:rPr>
              <a:t>Backlogas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0C5BBB1-1043-9043-31D6-5870EB7A7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pic>
        <p:nvPicPr>
          <p:cNvPr id="11" name="Picture 2" descr="ktu logo – KTU Gimnazija">
            <a:extLst>
              <a:ext uri="{FF2B5EF4-FFF2-40B4-BE49-F238E27FC236}">
                <a16:creationId xmlns:a16="http://schemas.microsoft.com/office/drawing/2014/main" id="{60E9D911-F98E-11A1-4369-3D4E77567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B8C17E-5327-6B91-F184-4BF7CCA0E9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064" y="2457227"/>
            <a:ext cx="10053040" cy="40260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F3D8017-DA95-2D48-3DAD-AF71FF7307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132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F8EC22-72D2-1BE0-82F3-4486B31E9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393" y="841376"/>
            <a:ext cx="4619938" cy="4619938"/>
          </a:xfrm>
        </p:spPr>
        <p:txBody>
          <a:bodyPr>
            <a:normAutofit/>
          </a:bodyPr>
          <a:lstStyle/>
          <a:p>
            <a:pPr algn="ctr"/>
            <a:r>
              <a:rPr lang="lt-LT" dirty="0">
                <a:solidFill>
                  <a:srgbClr val="FFFFFF"/>
                </a:solidFill>
              </a:rPr>
              <a:t>Retrospektyva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6390E-1FAB-797C-3E92-AD0786931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4540" y="1515618"/>
            <a:ext cx="6392846" cy="4094066"/>
          </a:xfrm>
        </p:spPr>
        <p:txBody>
          <a:bodyPr anchor="t">
            <a:normAutofit fontScale="85000" lnSpcReduction="20000"/>
          </a:bodyPr>
          <a:lstStyle/>
          <a:p>
            <a:pPr marL="0" indent="0">
              <a:buNone/>
            </a:pPr>
            <a:r>
              <a:rPr lang="lt-LT" b="1" dirty="0"/>
              <a:t>Kas sekėsi?</a:t>
            </a:r>
          </a:p>
          <a:p>
            <a:r>
              <a:rPr lang="lt-LT" dirty="0"/>
              <a:t>Puikus bendradarbiavimas</a:t>
            </a:r>
          </a:p>
          <a:p>
            <a:r>
              <a:rPr lang="lt-LT" dirty="0"/>
              <a:t>Greitas reagavimas į problemas</a:t>
            </a:r>
          </a:p>
          <a:p>
            <a:r>
              <a:rPr lang="lt-LT" dirty="0"/>
              <a:t>Gera komandos dvasia</a:t>
            </a:r>
          </a:p>
          <a:p>
            <a:endParaRPr lang="lt-LT" dirty="0"/>
          </a:p>
          <a:p>
            <a:pPr marL="0" indent="0">
              <a:buNone/>
            </a:pPr>
            <a:r>
              <a:rPr lang="lt-LT" b="1" dirty="0"/>
              <a:t>Ką patobulinti?</a:t>
            </a:r>
          </a:p>
          <a:p>
            <a:r>
              <a:rPr lang="lt-LT" dirty="0"/>
              <a:t>Aiškesnis užduočių formulavimas</a:t>
            </a:r>
          </a:p>
          <a:p>
            <a:r>
              <a:rPr lang="lt-LT" dirty="0"/>
              <a:t>Pasilikti daugiau laiko netikėtoms užduotims</a:t>
            </a:r>
          </a:p>
          <a:p>
            <a:r>
              <a:rPr lang="lt-LT" dirty="0"/>
              <a:t>Atlikti bendrą sprinto įvadą užduočių supratimui</a:t>
            </a:r>
          </a:p>
          <a:p>
            <a:r>
              <a:rPr lang="lt-LT" dirty="0"/>
              <a:t>Laiko planavimas</a:t>
            </a:r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468923-4CF2-FB38-43B2-6E8DF21156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5" name="Picture 2" descr="ktu logo – KTU Gimnazija">
            <a:extLst>
              <a:ext uri="{FF2B5EF4-FFF2-40B4-BE49-F238E27FC236}">
                <a16:creationId xmlns:a16="http://schemas.microsoft.com/office/drawing/2014/main" id="{DF2EBE48-689F-4B83-51C4-63FCD35AD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B77F5-F6E4-B479-02D8-DEB714E15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07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E069D2-640E-F60A-6910-54C974659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6" name="Rectangle 235">
            <a:extLst>
              <a:ext uri="{FF2B5EF4-FFF2-40B4-BE49-F238E27FC236}">
                <a16:creationId xmlns:a16="http://schemas.microsoft.com/office/drawing/2014/main" id="{09B5A4D5-2180-5864-50B1-5C58CAEB5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Freeform 13">
            <a:extLst>
              <a:ext uri="{FF2B5EF4-FFF2-40B4-BE49-F238E27FC236}">
                <a16:creationId xmlns:a16="http://schemas.microsoft.com/office/drawing/2014/main" id="{70A61FB8-B69B-051E-1DFA-6B262E00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E0EF65-1CDE-CB6E-FDCB-5DACE434A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5598" y="2389555"/>
            <a:ext cx="7795590" cy="2387600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chemeClr val="bg1"/>
                </a:solidFill>
              </a:rPr>
              <a:t>1 </a:t>
            </a:r>
            <a:r>
              <a:rPr lang="en-US" dirty="0" err="1">
                <a:solidFill>
                  <a:schemeClr val="bg1"/>
                </a:solidFill>
              </a:rPr>
              <a:t>Sprintas</a:t>
            </a:r>
            <a:br>
              <a:rPr lang="en-US" dirty="0"/>
            </a:br>
            <a:r>
              <a:rPr lang="en-US" dirty="0" err="1">
                <a:solidFill>
                  <a:srgbClr val="FFFFFF"/>
                </a:solidFill>
              </a:rPr>
              <a:t>Moderni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klasės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kalba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F93DA6-4153-F0E5-EE72-217CBEF8B9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45306" y="4913619"/>
            <a:ext cx="6589707" cy="132944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>
                <a:solidFill>
                  <a:srgbClr val="FFFFFF"/>
                </a:solidFill>
              </a:rPr>
              <a:t>MKK komanda (K658)</a:t>
            </a:r>
          </a:p>
        </p:txBody>
      </p:sp>
      <p:cxnSp>
        <p:nvCxnSpPr>
          <p:cNvPr id="238" name="Straight Connector 237">
            <a:extLst>
              <a:ext uri="{FF2B5EF4-FFF2-40B4-BE49-F238E27FC236}">
                <a16:creationId xmlns:a16="http://schemas.microsoft.com/office/drawing/2014/main" id="{B2069220-29EF-AB8D-731B-F302E272B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Freeform: Shape 238">
            <a:extLst>
              <a:ext uri="{FF2B5EF4-FFF2-40B4-BE49-F238E27FC236}">
                <a16:creationId xmlns:a16="http://schemas.microsoft.com/office/drawing/2014/main" id="{03F6A852-40B5-B616-1A99-8BAAEA339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FE9A5C97-6C49-8A9B-E2AF-4A30A43361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41" name="Oval 240">
            <a:extLst>
              <a:ext uri="{FF2B5EF4-FFF2-40B4-BE49-F238E27FC236}">
                <a16:creationId xmlns:a16="http://schemas.microsoft.com/office/drawing/2014/main" id="{379FEF04-8A0E-17E9-372C-71758890A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2" name="Freeform: Shape 241">
            <a:extLst>
              <a:ext uri="{FF2B5EF4-FFF2-40B4-BE49-F238E27FC236}">
                <a16:creationId xmlns:a16="http://schemas.microsoft.com/office/drawing/2014/main" id="{A4AA7C82-6280-2641-3608-CB2C49610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43" name="Arc 242">
            <a:extLst>
              <a:ext uri="{FF2B5EF4-FFF2-40B4-BE49-F238E27FC236}">
                <a16:creationId xmlns:a16="http://schemas.microsoft.com/office/drawing/2014/main" id="{44032910-C3FE-0FD1-7651-925E60005F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A59094-E66F-103E-0259-C1EDE655E1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3083" y="6108903"/>
            <a:ext cx="725772" cy="645131"/>
          </a:xfrm>
          <a:prstGeom prst="rect">
            <a:avLst/>
          </a:prstGeom>
        </p:spPr>
      </p:pic>
      <p:pic>
        <p:nvPicPr>
          <p:cNvPr id="7" name="Picture 2" descr="ktu logo – KTU Gimnazija">
            <a:extLst>
              <a:ext uri="{FF2B5EF4-FFF2-40B4-BE49-F238E27FC236}">
                <a16:creationId xmlns:a16="http://schemas.microsoft.com/office/drawing/2014/main" id="{12428458-4C31-B75E-CBB7-59C7785F71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869" y="6093431"/>
            <a:ext cx="616606" cy="676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270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211</TotalTime>
  <Words>340</Words>
  <Application>Microsoft Office PowerPoint</Application>
  <PresentationFormat>Widescreen</PresentationFormat>
  <Paragraphs>97</Paragraphs>
  <Slides>15</Slides>
  <Notes>13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1 Sprintas Moderni klasės kalba</vt:lpstr>
      <vt:lpstr>Projekto problema, tikslas ir uždaviniai</vt:lpstr>
      <vt:lpstr>Sprinto tikslas ir uždaviniai</vt:lpstr>
      <vt:lpstr>Atnaujintas produkto pavadinimas ir logotipas </vt:lpstr>
      <vt:lpstr>Pradinis prototipas</vt:lpstr>
      <vt:lpstr>Makroaplinkos analizė</vt:lpstr>
      <vt:lpstr>Rinkos segmentai ir tikslinis segmentas</vt:lpstr>
      <vt:lpstr>Konkurentai</vt:lpstr>
      <vt:lpstr>Vartotojų balso tyrimas</vt:lpstr>
      <vt:lpstr>Užduočių rinkinio pavyzdys</vt:lpstr>
      <vt:lpstr>Sprinto statistika</vt:lpstr>
      <vt:lpstr>Sprintų palyginimas</vt:lpstr>
      <vt:lpstr>Backlogas</vt:lpstr>
      <vt:lpstr>Retrospektyva</vt:lpstr>
      <vt:lpstr>1 Sprintas Moderni klasės kalba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Tautrimas Ramančionis</cp:lastModifiedBy>
  <cp:revision>60</cp:revision>
  <dcterms:created xsi:type="dcterms:W3CDTF">2026-02-08T17:34:44Z</dcterms:created>
  <dcterms:modified xsi:type="dcterms:W3CDTF">2026-03-12T19:52:46Z</dcterms:modified>
</cp:coreProperties>
</file>